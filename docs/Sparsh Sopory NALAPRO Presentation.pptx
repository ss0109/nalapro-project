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2.xml" ContentType="application/vnd.openxmlformats-officedocument.drawingml.chart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1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Georgia"/>
              </a:defRPr>
            </a:pPr>
            <a:r>
              <a:rPr lang="en-IN" sz="1400" b="0" i="0" u="none" strike="noStrike">
                <a:solidFill>
                  <a:srgbClr val="1F2937"/>
                </a:solidFill>
                <a:latin typeface="Georgia"/>
              </a:rPr>
              <a:t>BERT loss vs validation accuracy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loss</c:v>
                </c:pt>
              </c:strCache>
            </c:strRef>
          </c:tx>
          <c:spPr>
            <a:ln w="38100" cap="flat">
              <a:solidFill>
                <a:srgbClr val="E07733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E07733"/>
              </a:solidFill>
              <a:ln w="9525" cap="flat">
                <a:solidFill>
                  <a:srgbClr val="E07733"/>
                </a:solidFill>
                <a:prstDash val="solid"/>
                <a:round/>
              </a:ln>
              <a:effectLst/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Epoch 1</c:v>
                </c:pt>
                <c:pt idx="1">
                  <c:v>Epoch 2</c:v>
                </c:pt>
                <c:pt idx="2">
                  <c:v>Epoch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2.1</c:v>
                </c:pt>
                <c:pt idx="1">
                  <c:v>1.03</c:v>
                </c:pt>
                <c:pt idx="2">
                  <c:v>0.78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236-42F0-8123-D406F3694B2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accuracy</c:v>
                </c:pt>
              </c:strCache>
            </c:strRef>
          </c:tx>
          <c:spPr>
            <a:ln w="38100" cap="flat">
              <a:solidFill>
                <a:srgbClr val="1F2937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1F2937"/>
              </a:solidFill>
              <a:ln w="9525" cap="flat">
                <a:solidFill>
                  <a:srgbClr val="1F2937"/>
                </a:solidFill>
                <a:prstDash val="solid"/>
                <a:round/>
              </a:ln>
              <a:effectLst/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Epoch 1</c:v>
                </c:pt>
                <c:pt idx="1">
                  <c:v>Epoch 2</c:v>
                </c:pt>
                <c:pt idx="2">
                  <c:v>Epoch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0.66700000000000004</c:v>
                </c:pt>
                <c:pt idx="1">
                  <c:v>0.72499999999999998</c:v>
                </c:pt>
                <c:pt idx="2">
                  <c:v>0.746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236-42F0-8123-D406F3694B2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Georgia"/>
              </a:defRPr>
            </a:pPr>
            <a:r>
              <a:rPr lang="en-US" sz="1100" b="0" i="0" u="none" strike="noStrike">
                <a:solidFill>
                  <a:srgbClr val="1F2937"/>
                </a:solidFill>
                <a:latin typeface="Georgia"/>
              </a:rPr>
              <a:t>Test accuracy across all methods (Tasks 1–3 on full 20-class set; Task 4 &amp; Bonus on smaller balanced sets)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E07733"/>
            </a:solidFill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w2v 1ep</c:v>
                </c:pt>
                <c:pt idx="1">
                  <c:v>w2v 30ep</c:v>
                </c:pt>
                <c:pt idx="2">
                  <c:v>TF-IDF-w w2v</c:v>
                </c:pt>
                <c:pt idx="3">
                  <c:v>TF-IDF</c:v>
                </c:pt>
                <c:pt idx="4">
                  <c:v>BERT</c:v>
                </c:pt>
                <c:pt idx="5">
                  <c:v>BERT+MLM</c:v>
                </c:pt>
                <c:pt idx="6">
                  <c:v>Llama few-shot</c:v>
                </c:pt>
                <c:pt idx="7">
                  <c:v>Llama 0-shot</c:v>
                </c:pt>
                <c:pt idx="8">
                  <c:v>QLoRA Llama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0.27200000000000002</c:v>
                </c:pt>
                <c:pt idx="1">
                  <c:v>0.64200000000000002</c:v>
                </c:pt>
                <c:pt idx="2">
                  <c:v>0.63400000000000001</c:v>
                </c:pt>
                <c:pt idx="3">
                  <c:v>0.67900000000000005</c:v>
                </c:pt>
                <c:pt idx="4">
                  <c:v>0.69</c:v>
                </c:pt>
                <c:pt idx="5">
                  <c:v>0.69099999999999995</c:v>
                </c:pt>
                <c:pt idx="6">
                  <c:v>0.44</c:v>
                </c:pt>
                <c:pt idx="7">
                  <c:v>0.62</c:v>
                </c:pt>
                <c:pt idx="8">
                  <c:v>0.53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33-4013-8E8B-2B47706F6CF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7648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07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ar_white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-1097280" y="-914400"/>
            <a:ext cx="4572000" cy="4572000"/>
          </a:xfrm>
          <a:prstGeom prst="rect">
            <a:avLst/>
          </a:prstGeom>
        </p:spPr>
      </p:pic>
      <p:pic>
        <p:nvPicPr>
          <p:cNvPr id="3" name="Image 1" descr="gear_white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182880" y="2286000"/>
            <a:ext cx="4114800" cy="4114800"/>
          </a:xfrm>
          <a:prstGeom prst="rect">
            <a:avLst/>
          </a:prstGeom>
        </p:spPr>
      </p:pic>
      <p:pic>
        <p:nvPicPr>
          <p:cNvPr id="4" name="Image 2" descr="gear_lightorange.png"/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9601200" y="4389120"/>
            <a:ext cx="2743200" cy="2743200"/>
          </a:xfrm>
          <a:prstGeom prst="rect">
            <a:avLst/>
          </a:prstGeom>
        </p:spPr>
      </p:pic>
      <p:pic>
        <p:nvPicPr>
          <p:cNvPr id="5" name="Image 3" descr="gear_lightorange.png"/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10972800" y="-731520"/>
            <a:ext cx="1828800" cy="18288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4389120" y="1645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NALAPRO PROJECT</a:t>
            </a:r>
            <a:endParaRPr lang="en-US" sz="1400" dirty="0"/>
          </a:p>
        </p:txBody>
      </p:sp>
      <p:sp>
        <p:nvSpPr>
          <p:cNvPr id="7" name="Text 1"/>
          <p:cNvSpPr/>
          <p:nvPr/>
        </p:nvSpPr>
        <p:spPr>
          <a:xfrm>
            <a:off x="4389120" y="219456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NEWSGROUPS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</a:t>
            </a:r>
            <a:endParaRPr lang="en-US" sz="4800" dirty="0"/>
          </a:p>
        </p:txBody>
      </p:sp>
      <p:sp>
        <p:nvSpPr>
          <p:cNvPr id="9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B8B968-CA9F-B3EA-4EEE-BB46BFDA065F}"/>
              </a:ext>
            </a:extLst>
          </p:cNvPr>
          <p:cNvSpPr txBox="1"/>
          <p:nvPr/>
        </p:nvSpPr>
        <p:spPr>
          <a:xfrm>
            <a:off x="4389120" y="4207481"/>
            <a:ext cx="4225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solidFill>
                  <a:schemeClr val="bg1"/>
                </a:solidFill>
                <a:latin typeface="+mj-lt"/>
              </a:rPr>
              <a:t>By: SPARSH SOPORY</a:t>
            </a:r>
            <a:endParaRPr lang="en-IN" i="1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0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Tasks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289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B7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28900" cy="91440"/>
          </a:xfrm>
          <a:prstGeom prst="rect">
            <a:avLst/>
          </a:prstGeom>
          <a:solidFill>
            <a:srgbClr val="E07733"/>
          </a:solidFill>
          <a:ln w="12700">
            <a:solidFill>
              <a:srgbClr val="E07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22631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07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22631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Neural Network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22631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Two-layer NN with word2vec and TF-IDF inputs, plus another experiment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60420" y="1691640"/>
            <a:ext cx="26289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B7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360420" y="1691640"/>
            <a:ext cx="2628900" cy="91440"/>
          </a:xfrm>
          <a:prstGeom prst="rect">
            <a:avLst/>
          </a:prstGeom>
          <a:solidFill>
            <a:srgbClr val="E07733"/>
          </a:solidFill>
          <a:ln w="12700">
            <a:solidFill>
              <a:srgbClr val="E07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543300" y="1920240"/>
            <a:ext cx="22631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07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543300" y="2606040"/>
            <a:ext cx="22631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BERT Fine-tuning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43300" y="3246120"/>
            <a:ext cx="22631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BERT-base-uncased on all 20 classes with proper train/val/testing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691640"/>
            <a:ext cx="26289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B7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172200" y="1691640"/>
            <a:ext cx="2628900" cy="91440"/>
          </a:xfrm>
          <a:prstGeom prst="rect">
            <a:avLst/>
          </a:prstGeom>
          <a:solidFill>
            <a:srgbClr val="E07733"/>
          </a:solidFill>
          <a:ln w="12700">
            <a:solidFill>
              <a:srgbClr val="E07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355080" y="1920240"/>
            <a:ext cx="22631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07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355080" y="2606040"/>
            <a:ext cx="22631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MLM + BERT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5080" y="3246120"/>
            <a:ext cx="22631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BERT's masked-language pretraining on the newsgroup corpus, then fine-tune for classification.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83980" y="1691640"/>
            <a:ext cx="26289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B7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983980" y="1691640"/>
            <a:ext cx="2628900" cy="91440"/>
          </a:xfrm>
          <a:prstGeom prst="rect">
            <a:avLst/>
          </a:prstGeom>
          <a:solidFill>
            <a:srgbClr val="E07733"/>
          </a:solidFill>
          <a:ln w="12700">
            <a:solidFill>
              <a:srgbClr val="E07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166860" y="1920240"/>
            <a:ext cx="22631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07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9166860" y="2606040"/>
            <a:ext cx="22631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Llama-3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66860" y="3246120"/>
            <a:ext cx="22631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and few-shot classification with Llama-3, compare to the supervised fine-tuned BERT.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11064240" cy="13716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0" descr="gear_lightorange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10607040" y="4206240"/>
            <a:ext cx="1371600" cy="13716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914400" y="4572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4B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BONUS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914400" y="4937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QLoRA fine-tune Llama-3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914400" y="5486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zero-shot and few-shot.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0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Journey — From Constraints to Solutions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194560" cy="2651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194560" cy="502920"/>
          </a:xfrm>
          <a:prstGeom prst="rect">
            <a:avLst/>
          </a:prstGeom>
          <a:solidFill>
            <a:srgbClr val="E07733"/>
          </a:solidFill>
          <a:ln w="12700">
            <a:solidFill>
              <a:srgbClr val="E07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CPU-only laptop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4B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8+ h per task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43784" y="3154680"/>
            <a:ext cx="118872" cy="0"/>
          </a:xfrm>
          <a:prstGeom prst="line">
            <a:avLst/>
          </a:prstGeom>
          <a:noFill/>
          <a:ln w="25400">
            <a:solidFill>
              <a:srgbClr val="E0773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971800" y="1828800"/>
            <a:ext cx="2194560" cy="2651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971800" y="1828800"/>
            <a:ext cx="2194560" cy="502920"/>
          </a:xfrm>
          <a:prstGeom prst="rect">
            <a:avLst/>
          </a:prstGeom>
          <a:solidFill>
            <a:srgbClr val="E07733"/>
          </a:solidFill>
          <a:ln w="12700">
            <a:solidFill>
              <a:srgbClr val="E07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9718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54680" y="26060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6-class subset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54680" y="3749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4B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Didn't match brief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75504" y="3154680"/>
            <a:ext cx="118872" cy="0"/>
          </a:xfrm>
          <a:prstGeom prst="line">
            <a:avLst/>
          </a:prstGeom>
          <a:noFill/>
          <a:ln w="25400">
            <a:solidFill>
              <a:srgbClr val="E0773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303520" y="1828800"/>
            <a:ext cx="2194560" cy="2651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303520" y="1828800"/>
            <a:ext cx="2194560" cy="502920"/>
          </a:xfrm>
          <a:prstGeom prst="rect">
            <a:avLst/>
          </a:prstGeom>
          <a:solidFill>
            <a:srgbClr val="E07733"/>
          </a:solidFill>
          <a:ln w="12700">
            <a:solidFill>
              <a:srgbClr val="E07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30352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0" y="26060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20 classes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val/test discipline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0" y="3749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4B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slow on CPU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507224" y="3154680"/>
            <a:ext cx="118872" cy="0"/>
          </a:xfrm>
          <a:prstGeom prst="line">
            <a:avLst/>
          </a:prstGeom>
          <a:noFill/>
          <a:ln w="25400">
            <a:solidFill>
              <a:srgbClr val="E0773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635240" y="1828800"/>
            <a:ext cx="2194560" cy="2651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635240" y="1828800"/>
            <a:ext cx="2194560" cy="502920"/>
          </a:xfrm>
          <a:prstGeom prst="rect">
            <a:avLst/>
          </a:prstGeom>
          <a:solidFill>
            <a:srgbClr val="E07733"/>
          </a:solidFill>
          <a:ln w="12700">
            <a:solidFill>
              <a:srgbClr val="E07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63524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818120" y="26060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Colab T4 GPU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fp16 + batch 32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818120" y="3749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4B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→ minutes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838944" y="3154680"/>
            <a:ext cx="118872" cy="0"/>
          </a:xfrm>
          <a:prstGeom prst="line">
            <a:avLst/>
          </a:prstGeom>
          <a:noFill/>
          <a:ln w="25400">
            <a:solidFill>
              <a:srgbClr val="E0773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9966960" y="1828800"/>
            <a:ext cx="2194560" cy="2651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9966960" y="1828800"/>
            <a:ext cx="2194560" cy="502920"/>
          </a:xfrm>
          <a:prstGeom prst="rect">
            <a:avLst/>
          </a:prstGeom>
          <a:solidFill>
            <a:srgbClr val="E07733"/>
          </a:solidFill>
          <a:ln w="12700">
            <a:solidFill>
              <a:srgbClr val="E07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996696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149840" y="26060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4 tasks + bonus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W&amp;B tracked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149840" y="3749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4B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0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Dataset — 20 Newsgroups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sklearn.datasets.fetch_20newsgroups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</a:rPr>
              <a:t>Headers / footers / quoted text removed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</a:rPr>
              <a:t>Stratified 10% validation split</a:t>
            </a:r>
            <a:endParaRPr lang="en-US" sz="1200" dirty="0"/>
          </a:p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</a:rPr>
              <a:t>Test set evaluated once, at the 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023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strip headers?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signatures and Newsgroups: headers leak the answer — the model would learn to cheat instead of read content.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5349240"/>
            <a:ext cx="1554480" cy="10972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54406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7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11.3k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" y="6126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docs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31720" y="5349240"/>
            <a:ext cx="1280160" cy="10972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331720" y="544068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7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7.5k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331720" y="6126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docs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49040" y="5349240"/>
            <a:ext cx="1097280" cy="10972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749040" y="54406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07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749040" y="6126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00" dirty="0"/>
          </a:p>
        </p:txBody>
      </p:sp>
      <p:pic>
        <p:nvPicPr>
          <p:cNvPr id="19" name="Image 0" descr="00_class_distribu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12080" y="1554480"/>
            <a:ext cx="6766560" cy="41148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212080" y="57150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 (train + test) — fairly balanced; minor underrepresentation in 4 classes.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07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ar_lightorange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-914400" y="-914400"/>
            <a:ext cx="3657600" cy="3657600"/>
          </a:xfrm>
          <a:prstGeom prst="rect">
            <a:avLst/>
          </a:prstGeom>
        </p:spPr>
      </p:pic>
      <p:pic>
        <p:nvPicPr>
          <p:cNvPr id="3" name="Image 1" descr="gear_lightorange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8229600" y="3657600"/>
            <a:ext cx="3657600" cy="36576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48640" y="1463040"/>
            <a:ext cx="6858000" cy="4297680"/>
          </a:xfrm>
          <a:prstGeom prst="rect">
            <a:avLst/>
          </a:prstGeom>
          <a:solidFill>
            <a:srgbClr val="F4E8D8"/>
          </a:solidFill>
          <a:ln w="12700">
            <a:solidFill>
              <a:srgbClr val="F4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1"/>
          <p:cNvSpPr/>
          <p:nvPr/>
        </p:nvSpPr>
        <p:spPr>
          <a:xfrm>
            <a:off x="914400" y="182880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B8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OF 4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14400" y="228600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Neural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914400" y="3383280"/>
            <a:ext cx="6126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linear layers with a ReLU between them — Linear(d_in → 128) → ReLU → Linear(128 → 20). The architecture stays constant across four experiments; only the input representation changes.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compare word2vec averaged vectors (1 epoch vs 30 epochs), TF-IDF, and TF-IDF-weighted word2vec.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772400" y="914400"/>
            <a:ext cx="41148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0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word2vec — 1 Epoch vs 30 Epochs</a:t>
            </a:r>
            <a:endParaRPr lang="en-US" sz="3200" dirty="0"/>
          </a:p>
        </p:txBody>
      </p:sp>
      <p:pic>
        <p:nvPicPr>
          <p:cNvPr id="4" name="Image 0" descr="01_w2v_epoch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554480"/>
            <a:ext cx="777240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95360" y="1554480"/>
            <a:ext cx="3200400" cy="39319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778240" y="1737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E07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778240" y="2194560"/>
            <a:ext cx="2834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 epoch</a:t>
            </a:r>
            <a:endParaRPr lang="en-US" sz="1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F4E8D8"/>
                </a:solidFill>
              </a:rPr>
              <a:t>Words scattered randomly. Vectors are basically initialisation noise.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30 epochs</a:t>
            </a:r>
            <a:endParaRPr lang="en-US" sz="1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F4E8D8"/>
                </a:solidFill>
              </a:rPr>
              <a:t>Clear semantic clusters — medical terms (doctor / patient / disease / medicine) top-right, religion (god / jesus / bible / church) bottom-right.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Tech cluster</a:t>
            </a:r>
            <a:endParaRPr lang="en-US" sz="1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F4E8D8"/>
                </a:solidFill>
              </a:rPr>
              <a:t>computer / software / memory / disk / drive form their own group.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0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— Full 20-class Test Set</a:t>
            </a:r>
            <a:endParaRPr lang="en-US" sz="3200" dirty="0"/>
          </a:p>
        </p:txBody>
      </p:sp>
      <p:pic>
        <p:nvPicPr>
          <p:cNvPr id="4" name="Image 0" descr="01_task1_comparis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554480"/>
            <a:ext cx="6583680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39496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and macro F1 across the four input representations.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406640" y="1554480"/>
            <a:ext cx="438912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B7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7406640" y="1554480"/>
            <a:ext cx="4389120" cy="73152"/>
          </a:xfrm>
          <a:prstGeom prst="rect">
            <a:avLst/>
          </a:prstGeom>
          <a:solidFill>
            <a:srgbClr val="E07733"/>
          </a:solidFill>
          <a:ln w="12700">
            <a:solidFill>
              <a:srgbClr val="E07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589520" y="1737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test accuracy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2194560"/>
          <a:ext cx="4023360" cy="14630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word2vec (1 epoch)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word2vec (30 epochs)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B85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85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85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TF-IDF-weighted w2v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58952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Winner: TF-IDF.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589520" y="457200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captures lexically distinctive words directly, while averaging word2vec dilutes them.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ar_lightorange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10332720" y="-548640"/>
            <a:ext cx="2286000" cy="2286000"/>
          </a:xfrm>
          <a:prstGeom prst="rect">
            <a:avLst/>
          </a:prstGeom>
        </p:spPr>
      </p:pic>
      <p:pic>
        <p:nvPicPr>
          <p:cNvPr id="3" name="Image 1" descr="gear_lightorange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11338560" y="1280160"/>
            <a:ext cx="1280160" cy="12801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TF-IDF Wins on This Dataset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640080" y="1691640"/>
            <a:ext cx="5486400" cy="2103120"/>
          </a:xfrm>
          <a:prstGeom prst="rect">
            <a:avLst/>
          </a:prstGeom>
          <a:solidFill>
            <a:srgbClr val="F4E8D8"/>
          </a:solidFill>
          <a:ln w="12700">
            <a:solidFill>
              <a:srgbClr val="F4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3"/>
          <p:cNvSpPr/>
          <p:nvPr/>
        </p:nvSpPr>
        <p:spPr>
          <a:xfrm>
            <a:off x="640080" y="1691640"/>
            <a:ext cx="91440" cy="2103120"/>
          </a:xfrm>
          <a:prstGeom prst="rect">
            <a:avLst/>
          </a:prstGeom>
          <a:solidFill>
            <a:srgbClr val="E07733"/>
          </a:solidFill>
          <a:ln w="12700">
            <a:solidFill>
              <a:srgbClr val="E07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914400" y="1874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Newsgroups is lexically separable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914400" y="246888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newsgroup has its own vocabulary (carburetor in rec.autos, encryption in sci.crypt). TF-IDF captures rare, informative words.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355080" y="1691640"/>
            <a:ext cx="5486400" cy="2103120"/>
          </a:xfrm>
          <a:prstGeom prst="rect">
            <a:avLst/>
          </a:prstGeom>
          <a:solidFill>
            <a:srgbClr val="F4E8D8"/>
          </a:solidFill>
          <a:ln w="12700">
            <a:solidFill>
              <a:srgbClr val="F4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6355080" y="1691640"/>
            <a:ext cx="91440" cy="2103120"/>
          </a:xfrm>
          <a:prstGeom prst="rect">
            <a:avLst/>
          </a:prstGeom>
          <a:solidFill>
            <a:srgbClr val="E07733"/>
          </a:solidFill>
          <a:ln w="12700">
            <a:solidFill>
              <a:srgbClr val="E07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6629400" y="1874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Averaging word2vec dilutes signal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629400" y="246888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the mean of all word vectors mixes informative content words with stopword-like noise. Class-defining terms get washed out.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023360"/>
            <a:ext cx="5486400" cy="2103120"/>
          </a:xfrm>
          <a:prstGeom prst="rect">
            <a:avLst/>
          </a:prstGeom>
          <a:solidFill>
            <a:srgbClr val="F4E8D8"/>
          </a:solidFill>
          <a:ln w="12700">
            <a:solidFill>
              <a:srgbClr val="F4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640080" y="4023360"/>
            <a:ext cx="91440" cy="2103120"/>
          </a:xfrm>
          <a:prstGeom prst="rect">
            <a:avLst/>
          </a:prstGeom>
          <a:solidFill>
            <a:srgbClr val="E07733"/>
          </a:solidFill>
          <a:ln w="12700">
            <a:solidFill>
              <a:srgbClr val="E07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914400" y="42062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epochs help (+37 pp!)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914400" y="48006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epoch: 27%. 30 epochs: 64%. The PCA plot showed why — vectors only form meaningful clusters after many passes.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355080" y="4023360"/>
            <a:ext cx="5486400" cy="2103120"/>
          </a:xfrm>
          <a:prstGeom prst="rect">
            <a:avLst/>
          </a:prstGeom>
          <a:solidFill>
            <a:srgbClr val="F4E8D8"/>
          </a:solidFill>
          <a:ln w="12700">
            <a:solidFill>
              <a:srgbClr val="F4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6355080" y="4023360"/>
            <a:ext cx="91440" cy="2103120"/>
          </a:xfrm>
          <a:prstGeom prst="rect">
            <a:avLst/>
          </a:prstGeom>
          <a:solidFill>
            <a:srgbClr val="E07733"/>
          </a:solidFill>
          <a:ln w="12700">
            <a:solidFill>
              <a:srgbClr val="E07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6629400" y="42062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TF-IDF-weighted w2v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629400" y="48006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strengths gave 63.4% — between plain w2v (64.2%) and TF-IDF (67.9%). Identity-preservation beats semantic averaging here.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07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ar_lightorange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-914400" y="-914400"/>
            <a:ext cx="3657600" cy="3657600"/>
          </a:xfrm>
          <a:prstGeom prst="rect">
            <a:avLst/>
          </a:prstGeom>
        </p:spPr>
      </p:pic>
      <p:pic>
        <p:nvPicPr>
          <p:cNvPr id="3" name="Image 1" descr="gear_lightorange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8229600" y="3657600"/>
            <a:ext cx="3657600" cy="36576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48640" y="1463040"/>
            <a:ext cx="6858000" cy="4297680"/>
          </a:xfrm>
          <a:prstGeom prst="rect">
            <a:avLst/>
          </a:prstGeom>
          <a:solidFill>
            <a:srgbClr val="F4E8D8"/>
          </a:solidFill>
          <a:ln w="12700">
            <a:solidFill>
              <a:srgbClr val="F4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1"/>
          <p:cNvSpPr/>
          <p:nvPr/>
        </p:nvSpPr>
        <p:spPr>
          <a:xfrm>
            <a:off x="914400" y="182880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B8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OF 4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14400" y="228600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Fine-tune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BERT-base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914400" y="3383280"/>
            <a:ext cx="6126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bert-base-uncased on the full 20-class training set with a proper 10% stratified validation split. Max length 128 tokens, batch 32, 3 epochs, lr 2e-5, fp16 mixed precision on a T4 GPU.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7,532-doc test set is evaluated only once at the very end and never used for tuning.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772400" y="914400"/>
            <a:ext cx="41148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0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Hyperparameters and Compute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Hyperparameters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57400"/>
          <a:ext cx="5486400" cy="248716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bert-base-uncased (110M)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sequence length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tokens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2e-5 (AdamW)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decay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Warmup ratio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 linear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fp16 mixed (T4 GPU)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583680" y="1691640"/>
            <a:ext cx="2377440" cy="15544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583680" y="18745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07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8,000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58368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docs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235440" y="1691640"/>
            <a:ext cx="2377440" cy="15544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9235440" y="18745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07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957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923544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steps</a:t>
            </a:r>
            <a:endParaRPr lang="en-US" sz="1100" dirty="0"/>
          </a:p>
        </p:txBody>
      </p:sp>
      <p:sp>
        <p:nvSpPr>
          <p:cNvPr id="5" name="Shape 9"/>
          <p:cNvSpPr/>
          <p:nvPr/>
        </p:nvSpPr>
        <p:spPr>
          <a:xfrm>
            <a:off x="6583680" y="3429000"/>
            <a:ext cx="2377440" cy="15544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583680" y="36118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07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 min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6583680" y="4526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epoch on T4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235440" y="3429000"/>
            <a:ext cx="2377440" cy="15544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9235440" y="36118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07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110M</a:t>
            </a:r>
            <a:endParaRPr lang="en-US" sz="3800" dirty="0"/>
          </a:p>
        </p:txBody>
      </p:sp>
      <p:sp>
        <p:nvSpPr>
          <p:cNvPr id="17" name="Text 14"/>
          <p:cNvSpPr/>
          <p:nvPr/>
        </p:nvSpPr>
        <p:spPr>
          <a:xfrm>
            <a:off x="9235440" y="4526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params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" y="5349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Train/val/test discipline: 10% stratified validation split for per-epoch monitoring; the 7,532-doc test set evaluated only once.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0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Loss vs. Validation Accuracy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68580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691640"/>
            <a:ext cx="3840480" cy="14630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7772400" y="18288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07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68.97%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7772400" y="2697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 accuracy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72400" y="3291840"/>
            <a:ext cx="3840480" cy="1463040"/>
          </a:xfrm>
          <a:prstGeom prst="rect">
            <a:avLst/>
          </a:prstGeom>
          <a:solidFill>
            <a:srgbClr val="E07733"/>
          </a:solidFill>
          <a:ln w="12700">
            <a:solidFill>
              <a:srgbClr val="E07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772400" y="34290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0.665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7772400" y="4297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 macro F1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0" y="49377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 still falling at epoch 3 — model not fully converged.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0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Does BERT Get Confused?</a:t>
            </a:r>
            <a:endParaRPr lang="en-US" sz="3200" dirty="0"/>
          </a:p>
        </p:txBody>
      </p:sp>
      <p:pic>
        <p:nvPicPr>
          <p:cNvPr id="4" name="Image 0" descr="02_bert_confus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554480"/>
            <a:ext cx="6858000" cy="4754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1554480"/>
            <a:ext cx="4114800" cy="47548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786384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07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CONFUSABLE CLUSTERS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63840" y="2194560"/>
            <a:ext cx="3749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B581"/>
                </a:solidFill>
              </a:rPr>
              <a:t>Religion triangle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F4E8D8"/>
                </a:solidFill>
              </a:rPr>
              <a:t>alt.atheism ↔ soc.religion.christian ↔ talk.religion.misc — talk.religion.misc collapses (F1 = 0.04).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4B581"/>
                </a:solidFill>
              </a:rPr>
              <a:t>Computer sub-forums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F4E8D8"/>
                </a:solidFill>
              </a:rPr>
              <a:t>PC hardware ↔ Mac hardware ↔ ms-windows.misc ↔ windows.x — same domain, different platforms.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4B581"/>
                </a:solidFill>
              </a:rPr>
              <a:t>Politics overlap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F4E8D8"/>
                </a:solidFill>
              </a:rPr>
              <a:t>talk.politics.guns ↔ talk.politics.misc — "misc" absorbs borderline cases.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07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ar_lightorange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-914400" y="-914400"/>
            <a:ext cx="3657600" cy="3657600"/>
          </a:xfrm>
          <a:prstGeom prst="rect">
            <a:avLst/>
          </a:prstGeom>
        </p:spPr>
      </p:pic>
      <p:pic>
        <p:nvPicPr>
          <p:cNvPr id="3" name="Image 1" descr="gear_lightorange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8229600" y="3657600"/>
            <a:ext cx="3657600" cy="36576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48640" y="1463040"/>
            <a:ext cx="6858000" cy="4297680"/>
          </a:xfrm>
          <a:prstGeom prst="rect">
            <a:avLst/>
          </a:prstGeom>
          <a:solidFill>
            <a:srgbClr val="F4E8D8"/>
          </a:solidFill>
          <a:ln w="12700">
            <a:solidFill>
              <a:srgbClr val="F4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1"/>
          <p:cNvSpPr/>
          <p:nvPr/>
        </p:nvSpPr>
        <p:spPr>
          <a:xfrm>
            <a:off x="914400" y="182880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B8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OF 4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14400" y="228600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MLM + BERT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914400" y="3383280"/>
            <a:ext cx="6126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Domain-adaptive pretraining. Continue BERT's masked-language pretraining on the unlabelled 11k-document newsgroups corpus, then fine-tune for classification using the same setup as Task 2.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772400" y="914400"/>
            <a:ext cx="41148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0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MLM Barely Moves the Needle</a:t>
            </a:r>
            <a:endParaRPr lang="en-US" sz="3200" dirty="0"/>
          </a:p>
        </p:txBody>
      </p:sp>
      <p:pic>
        <p:nvPicPr>
          <p:cNvPr id="4" name="Image 0" descr="03_task2_vs_task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554480"/>
            <a:ext cx="594360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4864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vs Task 3 — same 20-class test set, same training setup.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766560" y="2153656"/>
            <a:ext cx="5029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B7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6766560" y="2153656"/>
            <a:ext cx="91440" cy="960120"/>
          </a:xfrm>
          <a:prstGeom prst="rect">
            <a:avLst/>
          </a:prstGeom>
          <a:solidFill>
            <a:srgbClr val="E07733"/>
          </a:solidFill>
          <a:ln w="12700">
            <a:solidFill>
              <a:srgbClr val="E07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949440" y="22450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+0.15 pp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949440" y="261085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acc: 68.97% → 69.12%. Macro F1: 0.665 → 0.668. Statistically indistinguishable.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766560" y="3205216"/>
            <a:ext cx="5029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B7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6766560" y="3205216"/>
            <a:ext cx="91440" cy="960120"/>
          </a:xfrm>
          <a:prstGeom prst="rect">
            <a:avLst/>
          </a:prstGeom>
          <a:solidFill>
            <a:srgbClr val="E07733"/>
          </a:solidFill>
          <a:ln w="12700">
            <a:solidFill>
              <a:srgbClr val="E07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949440" y="329665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so small?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949440" y="366241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was already pretrained on Wikipedia + BookCorpus — newsgroups text isn't far from that distribution.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766560" y="4256776"/>
            <a:ext cx="5029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B7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6766560" y="4256776"/>
            <a:ext cx="91440" cy="960120"/>
          </a:xfrm>
          <a:prstGeom prst="rect">
            <a:avLst/>
          </a:prstGeom>
          <a:solidFill>
            <a:srgbClr val="E07733"/>
          </a:solidFill>
          <a:ln w="12700">
            <a:solidFill>
              <a:srgbClr val="E07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949440" y="434821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MLM stage was short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949440" y="471397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 epoch of MLM (loss 2.66 → 2.46). More MLM epochs might help — but cost matters.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07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ar_lightorange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-914400" y="-914400"/>
            <a:ext cx="3657600" cy="3657600"/>
          </a:xfrm>
          <a:prstGeom prst="rect">
            <a:avLst/>
          </a:prstGeom>
        </p:spPr>
      </p:pic>
      <p:pic>
        <p:nvPicPr>
          <p:cNvPr id="3" name="Image 1" descr="gear_lightorange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8229600" y="3657600"/>
            <a:ext cx="3657600" cy="36576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48640" y="1463040"/>
            <a:ext cx="6858000" cy="4297680"/>
          </a:xfrm>
          <a:prstGeom prst="rect">
            <a:avLst/>
          </a:prstGeom>
          <a:solidFill>
            <a:srgbClr val="F4E8D8"/>
          </a:solidFill>
          <a:ln w="12700">
            <a:solidFill>
              <a:srgbClr val="F4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1"/>
          <p:cNvSpPr/>
          <p:nvPr/>
        </p:nvSpPr>
        <p:spPr>
          <a:xfrm>
            <a:off x="914400" y="182880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B8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OF 4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14400" y="228600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Llama-3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in-context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914400" y="3383280"/>
            <a:ext cx="6126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zero-shot and few-shot classification with Llama-3.1-8B-Instruct via </a:t>
            </a:r>
            <a:r>
              <a:rPr lang="en-US" sz="14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(the official Meta repo is gated, the mirror has identical weights).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a balanced 100-document test sample (5 per class). The same 100 docs are also evaluated with the fine-tuned BERT from Task 2 — for a fair head-to-head comparison.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772400" y="914400"/>
            <a:ext cx="41148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0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Unexpected Finding</a:t>
            </a:r>
            <a:endParaRPr lang="en-US" sz="3200" dirty="0"/>
          </a:p>
        </p:txBody>
      </p:sp>
      <p:pic>
        <p:nvPicPr>
          <p:cNvPr id="4" name="Image 0" descr="04_llama_vs_ber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554480"/>
            <a:ext cx="685800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4864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 zero/few-shot vs fine-tuned BERT on the same 100-doc test set.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680960" y="1554480"/>
            <a:ext cx="4114800" cy="47548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1" descr="gear_lightorange.png"/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10972800" y="1280160"/>
            <a:ext cx="1097280" cy="10972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6384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07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SURPRISE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863840" y="219456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Few-shot was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WORSE than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zero-shot.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7863840" y="4251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9875520" y="4251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07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62.0%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7863840" y="4800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9875520" y="4800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44.0%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863840" y="5349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(FT)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9875520" y="5349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4B5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71.0%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ar_lightorange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10332720" y="-548640"/>
            <a:ext cx="2286000" cy="2286000"/>
          </a:xfrm>
          <a:prstGeom prst="rect">
            <a:avLst/>
          </a:prstGeom>
        </p:spPr>
      </p:pic>
      <p:pic>
        <p:nvPicPr>
          <p:cNvPr id="3" name="Image 1" descr="gear_lightorange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11338560" y="1280160"/>
            <a:ext cx="1280160" cy="12801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Did Few-Shot Underperform Zero-Shot?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640080" y="1691640"/>
            <a:ext cx="5486400" cy="2103120"/>
          </a:xfrm>
          <a:prstGeom prst="rect">
            <a:avLst/>
          </a:prstGeom>
          <a:solidFill>
            <a:srgbClr val="F4E8D8"/>
          </a:solidFill>
          <a:ln w="12700">
            <a:solidFill>
              <a:srgbClr val="F4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3"/>
          <p:cNvSpPr/>
          <p:nvPr/>
        </p:nvSpPr>
        <p:spPr>
          <a:xfrm>
            <a:off x="914400" y="2011680"/>
            <a:ext cx="640080" cy="640080"/>
          </a:xfrm>
          <a:prstGeom prst="ellipse">
            <a:avLst/>
          </a:prstGeom>
          <a:solidFill>
            <a:srgbClr val="E07733"/>
          </a:solidFill>
          <a:ln w="12700">
            <a:solidFill>
              <a:srgbClr val="E07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91440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691640" y="19659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overload (~3,000 tokens)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691640" y="246888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in-context examples + 20-label system prompt push the prompt to ~3k tokens. The actual query gets buried.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355080" y="1691640"/>
            <a:ext cx="5486400" cy="2103120"/>
          </a:xfrm>
          <a:prstGeom prst="rect">
            <a:avLst/>
          </a:prstGeom>
          <a:solidFill>
            <a:srgbClr val="F4E8D8"/>
          </a:solidFill>
          <a:ln w="12700">
            <a:solidFill>
              <a:srgbClr val="F4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6629400" y="2011680"/>
            <a:ext cx="640080" cy="640080"/>
          </a:xfrm>
          <a:prstGeom prst="ellipse">
            <a:avLst/>
          </a:prstGeom>
          <a:solidFill>
            <a:srgbClr val="E07733"/>
          </a:solidFill>
          <a:ln w="12700">
            <a:solidFill>
              <a:srgbClr val="E07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662940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7406640" y="19659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Demonstration bias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406640" y="246888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example per class. The model can latch onto surface features of those specific posts rather than learning the abstract category.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" y="4023360"/>
            <a:ext cx="5486400" cy="2103120"/>
          </a:xfrm>
          <a:prstGeom prst="rect">
            <a:avLst/>
          </a:prstGeom>
          <a:solidFill>
            <a:srgbClr val="F4E8D8"/>
          </a:solidFill>
          <a:ln w="12700">
            <a:solidFill>
              <a:srgbClr val="F4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914400" y="4343400"/>
            <a:ext cx="640080" cy="640080"/>
          </a:xfrm>
          <a:prstGeom prst="ellipse">
            <a:avLst/>
          </a:prstGeom>
          <a:solidFill>
            <a:srgbClr val="E07733"/>
          </a:solidFill>
          <a:ln w="12700">
            <a:solidFill>
              <a:srgbClr val="E07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91440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1691640" y="4297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 mimicry &gt; understanding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1691640" y="480060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"post → label" 20 times, the model matches the pattern mechanically. Harmful when reasoning is needed.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355080" y="4023360"/>
            <a:ext cx="5486400" cy="2103120"/>
          </a:xfrm>
          <a:prstGeom prst="rect">
            <a:avLst/>
          </a:prstGeom>
          <a:solidFill>
            <a:srgbClr val="F4E8D8"/>
          </a:solidFill>
          <a:ln w="12700">
            <a:solidFill>
              <a:srgbClr val="F4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8"/>
          <p:cNvSpPr/>
          <p:nvPr/>
        </p:nvSpPr>
        <p:spPr>
          <a:xfrm>
            <a:off x="6629400" y="4343400"/>
            <a:ext cx="640080" cy="640080"/>
          </a:xfrm>
          <a:prstGeom prst="ellipse">
            <a:avLst/>
          </a:prstGeom>
          <a:solidFill>
            <a:srgbClr val="E07733"/>
          </a:solidFill>
          <a:ln w="12700">
            <a:solidFill>
              <a:srgbClr val="E07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662940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7406640" y="4297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Truncation of demos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406640" y="480060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demo truncated to 60 words to fit context. Trimmed snippets may not be representative — biasing the model.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07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ar_lightorange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-914400" y="-914400"/>
            <a:ext cx="3657600" cy="3657600"/>
          </a:xfrm>
          <a:prstGeom prst="rect">
            <a:avLst/>
          </a:prstGeom>
        </p:spPr>
      </p:pic>
      <p:pic>
        <p:nvPicPr>
          <p:cNvPr id="3" name="Image 1" descr="gear_lightorange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8229600" y="3657600"/>
            <a:ext cx="3657600" cy="36576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48640" y="1463040"/>
            <a:ext cx="6858000" cy="4297680"/>
          </a:xfrm>
          <a:prstGeom prst="rect">
            <a:avLst/>
          </a:prstGeom>
          <a:solidFill>
            <a:srgbClr val="F4E8D8"/>
          </a:solidFill>
          <a:ln w="12700">
            <a:solidFill>
              <a:srgbClr val="F4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1"/>
          <p:cNvSpPr/>
          <p:nvPr/>
        </p:nvSpPr>
        <p:spPr>
          <a:xfrm>
            <a:off x="914400" y="182880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B8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TASK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14400" y="228600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QLoRA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fine-tuning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914400" y="3383280"/>
            <a:ext cx="6126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bonus question: fine-tune Llama-3 with LoRA or QLoRA on the classification data and compare to zero-shot and few-shot.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= 4-bit quantized base model + low-rank LoRA adapters on q/k/v/o projection layers (rank 8). Only the adapters are trained: 4.6M parameters out of 3.2B (0.14%).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772400" y="914400"/>
            <a:ext cx="41148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36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9F0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QLoRA Setup — Lightweight Fine-tuning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QLoRA configuration</a:t>
            </a:r>
            <a:endParaRPr lang="en-US" sz="1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57400"/>
          <a:ext cx="5486400" cy="25908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Llama-3.2-3B-Instruct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4-bit NF4 (BitsAndBytes)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 rank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 alpha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 dropout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modules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q_proj, k_proj, v_proj, o_proj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Effective batch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(2 × accum 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2e-4 (AdamW)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 minutes on T4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B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583680" y="1691640"/>
            <a:ext cx="2377440" cy="15544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583680" y="19202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07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4.6M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58368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params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235440" y="1691640"/>
            <a:ext cx="2377440" cy="15544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9235440" y="19202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07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0.14%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923544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params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583680" y="3429000"/>
            <a:ext cx="2377440" cy="15544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583680" y="36576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07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4-bit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6583680" y="4526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 precision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235440" y="3429000"/>
            <a:ext cx="2377440" cy="15544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9235440" y="36576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07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min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9235440" y="4526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training time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" y="5349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QLoRA lets us fine-tune a 3B-parameter model on a free Colab T4 GPU. Full fine-tuning would need ~80 GB of VRAM.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9F0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QLoRA Beats In-Context by 36 pp</a:t>
            </a:r>
            <a:endParaRPr lang="en-US" sz="3200" dirty="0"/>
          </a:p>
        </p:txBody>
      </p:sp>
      <p:pic>
        <p:nvPicPr>
          <p:cNvPr id="4" name="Image 0" descr="bonus_resul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554480"/>
            <a:ext cx="685800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4864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Llama-3.2-3B — zero-shot, few-shot, QLoRA-tuned (same balanced eval set).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680960" y="1554480"/>
            <a:ext cx="4114800" cy="47548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1" descr="gear_lightorange.png"/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10972800" y="1280160"/>
            <a:ext cx="1097280" cy="10972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6384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07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863840" y="219456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0% to 53%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4.6 M trained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parameters.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863840" y="4434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149840" y="4434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CA5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17.0%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7863840" y="4937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149840" y="4937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CA5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0.0%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863840" y="5440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fine-tuned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0149840" y="5440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4B5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53.0%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ar_lightorange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10332720" y="-548640"/>
            <a:ext cx="2286000" cy="2286000"/>
          </a:xfrm>
          <a:prstGeom prst="rect">
            <a:avLst/>
          </a:prstGeom>
        </p:spPr>
      </p:pic>
      <p:pic>
        <p:nvPicPr>
          <p:cNvPr id="3" name="Image 1" descr="gear_lightorange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11338560" y="1280160"/>
            <a:ext cx="1280160" cy="12801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QLoRA Wins — and What the 0% Means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640080" y="1691640"/>
            <a:ext cx="5486400" cy="2103120"/>
          </a:xfrm>
          <a:prstGeom prst="rect">
            <a:avLst/>
          </a:prstGeom>
          <a:solidFill>
            <a:srgbClr val="F4E8D8"/>
          </a:solidFill>
          <a:ln w="12700">
            <a:solidFill>
              <a:srgbClr val="F4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3"/>
          <p:cNvSpPr/>
          <p:nvPr/>
        </p:nvSpPr>
        <p:spPr>
          <a:xfrm>
            <a:off x="640080" y="1691640"/>
            <a:ext cx="91440" cy="2103120"/>
          </a:xfrm>
          <a:prstGeom prst="rect">
            <a:avLst/>
          </a:prstGeom>
          <a:solidFill>
            <a:srgbClr val="E07733"/>
          </a:solidFill>
          <a:ln w="12700">
            <a:solidFill>
              <a:srgbClr val="E07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914400" y="1874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Fine-tuning learns the task, prompting only describes it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914400" y="246888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updates 4.6M parameters specifically for 20-class newsgroups. Zero/few-shot rely on the base model's general world knowledge to do the same job from words alone.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355080" y="1691640"/>
            <a:ext cx="5486400" cy="2103120"/>
          </a:xfrm>
          <a:prstGeom prst="rect">
            <a:avLst/>
          </a:prstGeom>
          <a:solidFill>
            <a:srgbClr val="F4E8D8"/>
          </a:solidFill>
          <a:ln w="12700">
            <a:solidFill>
              <a:srgbClr val="F4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6355080" y="1691640"/>
            <a:ext cx="91440" cy="2103120"/>
          </a:xfrm>
          <a:prstGeom prst="rect">
            <a:avLst/>
          </a:prstGeom>
          <a:solidFill>
            <a:srgbClr val="E07733"/>
          </a:solidFill>
          <a:ln w="12700">
            <a:solidFill>
              <a:srgbClr val="E07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6629400" y="1874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0% few-shot is a parsing collapse, not pure ignorance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629400" y="246888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smaller model (Llama-3.2-3B) and a strict label parser, the 20-shot prompt confused the model into outputs the parser couldn't match to any label.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023360"/>
            <a:ext cx="5486400" cy="2103120"/>
          </a:xfrm>
          <a:prstGeom prst="rect">
            <a:avLst/>
          </a:prstGeom>
          <a:solidFill>
            <a:srgbClr val="F4E8D8"/>
          </a:solidFill>
          <a:ln w="12700">
            <a:solidFill>
              <a:srgbClr val="F4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640080" y="4023360"/>
            <a:ext cx="91440" cy="2103120"/>
          </a:xfrm>
          <a:prstGeom prst="rect">
            <a:avLst/>
          </a:prstGeom>
          <a:solidFill>
            <a:srgbClr val="E07733"/>
          </a:solidFill>
          <a:ln w="12700">
            <a:solidFill>
              <a:srgbClr val="E07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914400" y="42062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Comparison caveat — different from Task 4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914400" y="48006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uses Llama-3.2-3B (smaller); Task 4 uses Llama-3.1-8B. Numbers within each task are comparable; across tasks they are not directly comparable.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355080" y="4023360"/>
            <a:ext cx="5486400" cy="2103120"/>
          </a:xfrm>
          <a:prstGeom prst="rect">
            <a:avLst/>
          </a:prstGeom>
          <a:solidFill>
            <a:srgbClr val="F4E8D8"/>
          </a:solidFill>
          <a:ln w="12700">
            <a:solidFill>
              <a:srgbClr val="F4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6355080" y="4023360"/>
            <a:ext cx="91440" cy="2103120"/>
          </a:xfrm>
          <a:prstGeom prst="rect">
            <a:avLst/>
          </a:prstGeom>
          <a:solidFill>
            <a:srgbClr val="E07733"/>
          </a:solidFill>
          <a:ln w="12700">
            <a:solidFill>
              <a:srgbClr val="E07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6629400" y="42062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QLoRA still trails fine-tuned BERT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629400" y="48006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on the 20-class test set: 69%. QLoRA Llama on its bonus eval: 53%. Architecture + amount of training data matters more than model size for this task.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9F0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Overall Comparison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758952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412480" y="1554480"/>
            <a:ext cx="3383280" cy="43891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59536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E07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595360" y="2194560"/>
            <a:ext cx="3017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B581"/>
                </a:solidFill>
              </a:rPr>
              <a:t>BERT wins narrowly</a:t>
            </a:r>
            <a:endParaRPr lang="en-US" sz="1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000" i="1" dirty="0">
                <a:solidFill>
                  <a:srgbClr val="F4E8D8"/>
                </a:solidFill>
              </a:rPr>
              <a:t>only ~1 pp over plain TF-IDF.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4B581"/>
                </a:solidFill>
              </a:rPr>
              <a:t>MLM is neutral</a:t>
            </a:r>
            <a:endParaRPr lang="en-US" sz="1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000" i="1" dirty="0">
                <a:solidFill>
                  <a:srgbClr val="F4E8D8"/>
                </a:solidFill>
              </a:rPr>
              <a:t>+0.15 pp — within noise.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4B581"/>
                </a:solidFill>
              </a:rPr>
              <a:t>Llama few-shot regressed</a:t>
            </a:r>
            <a:endParaRPr lang="en-US" sz="1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000" i="1" dirty="0">
                <a:solidFill>
                  <a:srgbClr val="F4E8D8"/>
                </a:solidFill>
              </a:rPr>
              <a:t>Counterintuitive but plausible.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4B581"/>
                </a:solidFill>
              </a:rPr>
              <a:t>QLoRA fixed Llama</a:t>
            </a:r>
            <a:endParaRPr lang="en-US" sz="1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000" i="1" dirty="0">
                <a:solidFill>
                  <a:srgbClr val="F4E8D8"/>
                </a:solidFill>
              </a:rPr>
              <a:t>Fine-tuning beat prompting by 36 pp.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4B581"/>
                </a:solidFill>
              </a:rPr>
              <a:t>Architecture &gt; model size</a:t>
            </a:r>
            <a:endParaRPr lang="en-US" sz="12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4E8D8"/>
                </a:solidFill>
              </a:rPr>
              <a:t>BERT (110M) still &gt; Llama-3B with QLoRA.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07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ar_white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-1097280" y="-914400"/>
            <a:ext cx="4572000" cy="4572000"/>
          </a:xfrm>
          <a:prstGeom prst="rect">
            <a:avLst/>
          </a:prstGeom>
        </p:spPr>
      </p:pic>
      <p:pic>
        <p:nvPicPr>
          <p:cNvPr id="3" name="Image 1" descr="gear_white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182880" y="3200400"/>
            <a:ext cx="3657600" cy="3657600"/>
          </a:xfrm>
          <a:prstGeom prst="rect">
            <a:avLst/>
          </a:prstGeom>
        </p:spPr>
      </p:pic>
      <p:pic>
        <p:nvPicPr>
          <p:cNvPr id="4" name="Image 2" descr="gear_lightorange.png"/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9601200" y="4389120"/>
            <a:ext cx="2743200" cy="2743200"/>
          </a:xfrm>
          <a:prstGeom prst="rect">
            <a:avLst/>
          </a:prstGeom>
        </p:spPr>
      </p:pic>
      <p:pic>
        <p:nvPicPr>
          <p:cNvPr id="5" name="Image 3" descr="gear_lightorange.png"/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10972800" y="-457200"/>
            <a:ext cx="1645920" cy="164592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4389120" y="25603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7" name="Text 1"/>
          <p:cNvSpPr/>
          <p:nvPr/>
        </p:nvSpPr>
        <p:spPr>
          <a:xfrm>
            <a:off x="4389120" y="3931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8" name="Shape 2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1621</Words>
  <Application>Microsoft Office PowerPoint</Application>
  <PresentationFormat>Widescreen</PresentationFormat>
  <Paragraphs>289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 Newsgroups Classification — NALAPRO</dc:title>
  <dc:subject>PptxGenJS Presentation</dc:subject>
  <dc:creator>NALAPRO Student</dc:creator>
  <cp:lastModifiedBy>Pandey Nilabh I.MSCITDS.2501</cp:lastModifiedBy>
  <cp:revision>2</cp:revision>
  <dcterms:created xsi:type="dcterms:W3CDTF">2026-05-21T00:47:42Z</dcterms:created>
  <dcterms:modified xsi:type="dcterms:W3CDTF">2026-06-06T13:09:49Z</dcterms:modified>
</cp:coreProperties>
</file>